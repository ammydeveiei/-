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9601200" y="-1371600"/>
            <a:ext cx="4114800" cy="4114800"/>
          </a:xfrm>
          <a:prstGeom prst="triangle">
            <a:avLst/>
          </a:prstGeom>
          <a:solidFill>
            <a:srgbClr val="18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2926080" cy="411480"/>
          </a:xfrm>
          <a:prstGeom prst="roundRect">
            <a:avLst/>
          </a:prstGeom>
          <a:solidFill>
            <a:srgbClr val="0E9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600" b="1">
                <a:solidFill>
                  <a:srgbClr val="FFFFFF"/>
                </a:solidFill>
                <a:latin typeface="TH SarabunPSK"/>
              </a:defRPr>
            </a:pPr>
            <a:r>
              <a:t>FLIPPED CLASSROOM: 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TH SarabunPSK"/>
              </a:defRPr>
            </a:pPr>
            <a:r>
              <a:t>การหาความยาวด้านตรงข้ามมุมฉาก</a:t>
            </a:r>
          </a:p>
          <a:p>
            <a:pPr>
              <a:defRPr sz="2200" i="1">
                <a:solidFill>
                  <a:srgbClr val="F08C00"/>
                </a:solidFill>
                <a:latin typeface="Arial"/>
              </a:defRPr>
            </a:pPr>
            <a:r>
              <a:t>Finding the Hypotenuse (Pythagorean Theorem)</a:t>
            </a:r>
          </a:p>
          <a:p>
            <a:br/>
            <a:pPr>
              <a:defRPr sz="2200">
                <a:solidFill>
                  <a:srgbClr val="C8D7E6"/>
                </a:solidFill>
                <a:latin typeface="TH SarabunPSK"/>
              </a:defRPr>
            </a:pPr>
            <a:r>
              <a:t>กลุ่มสาระการเรียนรู้คณิตศาสตร์ ชั้นมัธยมศึกษาปีที่ 2</a:t>
            </a:r>
            <a:br/>
            <a:r>
              <a:t>หน่วยการเรียนรู้ที่ 1 ทฤษฎีบทพีทาโกรัส | เวลาเรียน 1 ชั่วโมง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5303520"/>
            <a:ext cx="9875520" cy="36576"/>
          </a:xfrm>
          <a:prstGeom prst="rect">
            <a:avLst/>
          </a:prstGeom>
          <a:solidFill>
            <a:srgbClr val="0E9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4C8DC"/>
                </a:solidFill>
                <a:latin typeface="TH SarabunPSK"/>
              </a:defRPr>
            </a:pPr>
            <a:r>
              <a:t>ครูผู้สอน: คุณครูณัฐณิชา แก้วสิงห์  |  ชั้นมัธยมศึกษาปีที่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0E9A86"/>
                </a:solidFill>
                <a:latin typeface="TH SarabunPSK"/>
              </a:defRPr>
            </a:pPr>
            <a:r>
              <a:t>ทฤษฎีบทพีทาโกรัส | ม.2</a:t>
            </a:r>
          </a:p>
          <a:p>
            <a:pPr>
              <a:defRPr sz="3200" b="1">
                <a:solidFill>
                  <a:srgbClr val="102A43"/>
                </a:solidFill>
                <a:latin typeface="TH SarabunPSK"/>
              </a:defRPr>
            </a:pPr>
            <a:r>
              <a:t>จุดประสงค์การเรียนรู้ประจำคาบนี้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828800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E9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1005840"/>
          </a:xfrm>
          <a:prstGeom prst="roundRect">
            <a:avLst/>
          </a:prstGeom>
          <a:solidFill>
            <a:srgbClr val="0E9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TH SarabunPSK"/>
              </a:defRPr>
            </a:pPr>
            <a:r>
              <a:t>ด้านความรู้ (K)</a:t>
            </a:r>
            <a:br/>
            <a:r>
              <a:t>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004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12529"/>
                </a:solidFill>
                <a:latin typeface="TH SarabunPSK"/>
              </a:defRPr>
            </a:pPr>
            <a:r>
              <a:t>อธิบายวิธีการหาความยาวด้านตรงข้ามมุมฉาก เมื่อกำหนดความยาวของด้านประกอบมุมฉากทั้งสองด้านของรูปสามเหลี่ยมมุมฉากให้ได้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383280" cy="41148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383280" cy="1005840"/>
          </a:xfrm>
          <a:prstGeom prst="roundRect">
            <a:avLst/>
          </a:prstGeom>
          <a:solidFill>
            <a:srgbClr val="18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TH SarabunPSK"/>
              </a:defRPr>
            </a:pPr>
            <a:r>
              <a:t>ด้านทักษะกระบวนการ (P)</a:t>
            </a:r>
            <a:br/>
            <a:r>
              <a:t>PROCESS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2004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12529"/>
                </a:solidFill>
                <a:latin typeface="TH SarabunPSK"/>
              </a:defRPr>
            </a:pPr>
            <a:r>
              <a:t>แสดงวิธีทำและคำนวณหาความยาวของด้านตรงข้ามมุมฉาก (c) ได้อย่างถูกต้องตามขั้นตอนของทฤษฎีบทพีทาโกรัส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011680"/>
            <a:ext cx="3383280" cy="41148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0" y="2011680"/>
            <a:ext cx="3383280" cy="1005840"/>
          </a:xfrm>
          <a:prstGeom prst="round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TH SarabunPSK"/>
              </a:defRPr>
            </a:pPr>
            <a:r>
              <a:t>ด้านคุณลักษณะ (A)</a:t>
            </a:r>
            <a:br/>
            <a:r>
              <a:t>ATTITUDE &amp; 3R8C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2004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12529"/>
                </a:solidFill>
                <a:latin typeface="TH SarabunPSK"/>
              </a:defRPr>
            </a:pPr>
            <a:r>
              <a:t>มีความมุ่งมั่นในการทำงาน ใฝ่เรียนรู้ มีส่วนร่วมในการแก้ปัญหา และร่วมมือกันทำงานเป็นทีมได้อย่างมีประสิทธิภาพ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0E9A86"/>
                </a:solidFill>
                <a:latin typeface="TH SarabunPSK"/>
              </a:defRPr>
            </a:pPr>
            <a:r>
              <a:t>ทฤษฎีบทพีทาโกรัส | ม.2</a:t>
            </a:r>
          </a:p>
          <a:p>
            <a:pPr>
              <a:defRPr sz="3200" b="1">
                <a:solidFill>
                  <a:srgbClr val="102A43"/>
                </a:solidFill>
                <a:latin typeface="TH SarabunPSK"/>
              </a:defRPr>
            </a:pPr>
            <a:r>
              <a:t>องค์ประกอบของรูปสามเหลี่ยมมุมฉาก (Right Triangle)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828800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1371600" y="2468880"/>
            <a:ext cx="3474720" cy="3108960"/>
          </a:xfrm>
          <a:prstGeom prst="rtTriangle">
            <a:avLst/>
          </a:prstGeom>
          <a:solidFill>
            <a:srgbClr val="E6F5F5"/>
          </a:solidFill>
          <a:ln w="38100">
            <a:solidFill>
              <a:srgbClr val="0E9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329184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93F3F"/>
                </a:solidFill>
                <a:latin typeface="TH SarabunPSK"/>
              </a:defRPr>
            </a:pPr>
            <a:r>
              <a:t>ด้าน c (Hypotenuse)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2A43"/>
                </a:solidFill>
                <a:latin typeface="TH SarabunPSK"/>
              </a:defRPr>
            </a:pPr>
            <a:r>
              <a:t>ด้าน a (Leg)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57784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2A43"/>
                </a:solidFill>
                <a:latin typeface="TH SarabunPSK"/>
              </a:defRPr>
            </a:pPr>
            <a:r>
              <a:t>ด้าน b (Leg)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400" b="1">
                <a:solidFill>
                  <a:srgbClr val="102A43"/>
                </a:solidFill>
                <a:latin typeface="TH SarabunPSK"/>
              </a:defRPr>
            </a:pPr>
            <a:r>
              <a:t>★ 1. สัญลักษณ์มุมฉาก 90°</a:t>
            </a:r>
          </a:p>
          <a:p>
            <a:pPr>
              <a:defRPr sz="2000">
                <a:solidFill>
                  <a:srgbClr val="212529"/>
                </a:solidFill>
                <a:latin typeface="TH SarabunPSK"/>
              </a:defRPr>
            </a:pPr>
            <a:r>
              <a:t>   จุดสังเกตอันดับแรกเสมอ! ด้านสองด้านที่ทำมุมฉากกันคือ ด้านประกอบมุมฉาก (a และ b)</a:t>
            </a:r>
            <a:br/>
          </a:p>
          <a:p>
            <a:pPr>
              <a:defRPr sz="2400" b="1">
                <a:solidFill>
                  <a:srgbClr val="102A43"/>
                </a:solidFill>
                <a:latin typeface="TH SarabunPSK"/>
              </a:defRPr>
            </a:pPr>
            <a:r>
              <a:t>★ 2. ด้านตรงข้ามมุมฉาก (c)</a:t>
            </a:r>
          </a:p>
          <a:p>
            <a:pPr>
              <a:defRPr sz="2000">
                <a:solidFill>
                  <a:srgbClr val="212529"/>
                </a:solidFill>
                <a:latin typeface="TH SarabunPSK"/>
              </a:defRPr>
            </a:pPr>
            <a:r>
              <a:t>   คือด้านที่อยู่ฝั่งตรงข้ามสัญลักษณ์มุมฉาก 90° พอดี</a:t>
            </a:r>
            <a:br/>
          </a:p>
          <a:p>
            <a:pPr>
              <a:defRPr sz="2400" b="1">
                <a:solidFill>
                  <a:srgbClr val="102A43"/>
                </a:solidFill>
                <a:latin typeface="TH SarabunPSK"/>
              </a:defRPr>
            </a:pPr>
            <a:r>
              <a:t>★ 3. กฎทอง (Golden Rule)</a:t>
            </a:r>
          </a:p>
          <a:p>
            <a:pPr>
              <a:defRPr sz="2000">
                <a:solidFill>
                  <a:srgbClr val="212529"/>
                </a:solidFill>
                <a:latin typeface="TH SarabunPSK"/>
              </a:defRPr>
            </a:pPr>
            <a:r>
              <a:t>   ด้าน c จะต้องเป็น 'ด้านที่ยาวที่สุด' ในรูปสามเหลี่ยมมุมฉากเสมอ! (c &gt; a และ c &gt; b)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0E9A86"/>
                </a:solidFill>
                <a:latin typeface="TH SarabunPSK"/>
              </a:defRPr>
            </a:pPr>
            <a:r>
              <a:t>ทฤษฎีบทพีทาโกรัส | ม.2</a:t>
            </a:r>
          </a:p>
          <a:p>
            <a:pPr>
              <a:defRPr sz="3200" b="1">
                <a:solidFill>
                  <a:srgbClr val="102A43"/>
                </a:solidFill>
                <a:latin typeface="TH SarabunPSK"/>
              </a:defRPr>
            </a:pPr>
            <a:r>
              <a:t>ทฤษฎีบทพีทาโกรัส &amp; สูตรการหาด้านตรงข้ามมุมฉาก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828800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9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02A43"/>
                </a:solidFill>
                <a:latin typeface="TH SarabunPSK"/>
              </a:defRPr>
            </a:pPr>
            <a:r>
              <a:t>“ในรูปสามเหลี่ยมมุมฉากใด ๆ พื้นที่ของรูปสี่เหลี่ยมจัตุรัสบนด้านตรงข้ามมุมฉาก</a:t>
            </a:r>
            <a:br/>
            <a:r>
              <a:t>เท่ากับผลบวกของพื้นที่ของรูปสี่เหลี่ยมจัตุรัสบนด้านประกอบมุมฉากทั้งสองด้าน”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120640" cy="310896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F08C00"/>
                </a:solidFill>
                <a:latin typeface="TH SarabunPSK"/>
              </a:defRPr>
            </a:pPr>
            <a:r>
              <a:t>สมการความสัมพันธ์หลัก</a:t>
            </a:r>
            <a:br/>
          </a:p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c² = a² + b²</a:t>
            </a:r>
          </a:p>
          <a:p>
            <a:br/>
            <a:pPr algn="ctr">
              <a:defRPr sz="2000">
                <a:solidFill>
                  <a:srgbClr val="C8DCF0"/>
                </a:solidFill>
                <a:latin typeface="TH SarabunPSK"/>
              </a:defRPr>
            </a:pPr>
            <a:r>
              <a:t>พื้นที่บนด้าน c = ผลรวมพื้นที่บนด้าน a และ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08960"/>
            <a:ext cx="5212080" cy="3108960"/>
          </a:xfrm>
          <a:prstGeom prst="roundRect">
            <a:avLst/>
          </a:prstGeom>
          <a:solidFill>
            <a:srgbClr val="0E9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02A43"/>
                </a:solidFill>
                <a:latin typeface="TH SarabunPSK"/>
              </a:defRPr>
            </a:pPr>
            <a:r>
              <a:t>สูตรสำเร็จหาด้านตรงข้ามมุมฉาก (c)</a:t>
            </a:r>
            <a:br/>
          </a:p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c = √(a² + b²)</a:t>
            </a:r>
          </a:p>
          <a:p>
            <a:br/>
            <a:pPr algn="ctr">
              <a:defRPr sz="2000">
                <a:solidFill>
                  <a:srgbClr val="FFFFFF"/>
                </a:solidFill>
                <a:latin typeface="TH SarabunPSK"/>
              </a:defRPr>
            </a:pPr>
            <a:r>
              <a:t>(เนื่องจากความยาวต้องเป็นจำนวนบวกเสมอ c &gt; 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0E9A86"/>
                </a:solidFill>
                <a:latin typeface="TH SarabunPSK"/>
              </a:defRPr>
            </a:pPr>
            <a:r>
              <a:t>ทฤษฎีบทพีทาโกรัส | ม.2</a:t>
            </a:r>
          </a:p>
          <a:p>
            <a:pPr>
              <a:defRPr sz="3200" b="1">
                <a:solidFill>
                  <a:srgbClr val="102A43"/>
                </a:solidFill>
                <a:latin typeface="TH SarabunPSK"/>
              </a:defRPr>
            </a:pPr>
            <a:r>
              <a:t>4 สเต็ปทองคำ: อัลกอริทึมการคำนวณหาด้าน 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828800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2286000"/>
            <a:ext cx="1097280" cy="1097280"/>
          </a:xfrm>
          <a:prstGeom prst="ellipse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2A43"/>
                </a:solidFill>
                <a:latin typeface="TH SarabunPSK"/>
              </a:defRPr>
            </a:pPr>
            <a:r>
              <a:t>สเต็ป 1</a:t>
            </a:r>
            <a:br/>
            <a:r>
              <a:t>ระบุด้าน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891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12529"/>
                </a:solidFill>
                <a:latin typeface="TH SarabunPSK"/>
              </a:defRPr>
            </a:pPr>
            <a:r>
              <a:t>ตรวจสอบรูปภาพและโจทย์</a:t>
            </a:r>
            <a:br/>
            <a:r>
              <a:t>ระบุความยาวด้านประกอบมุมฉาก a และ b ให้ชัดเจน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60520" y="2286000"/>
            <a:ext cx="1097280" cy="1097280"/>
          </a:xfrm>
          <a:prstGeom prst="ellipse">
            <a:avLst/>
          </a:prstGeom>
          <a:solidFill>
            <a:srgbClr val="18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5661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84B78"/>
                </a:solidFill>
                <a:latin typeface="TH SarabunPSK"/>
              </a:defRPr>
            </a:pPr>
            <a:r>
              <a:t>สเต็ป 2</a:t>
            </a:r>
            <a:br/>
            <a:r>
              <a:t>ยกกำลังสอง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3891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12529"/>
                </a:solidFill>
                <a:latin typeface="TH SarabunPSK"/>
              </a:defRPr>
            </a:pPr>
            <a:r>
              <a:t>นำค่า a และ b มายกกำลังสอง</a:t>
            </a:r>
            <a:br/>
            <a:r>
              <a:t>คำนวณค่า a² และ b² แต่ละด้าน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9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0" y="2286000"/>
            <a:ext cx="1097280" cy="1097280"/>
          </a:xfrm>
          <a:prstGeom prst="ellipse">
            <a:avLst/>
          </a:prstGeom>
          <a:solidFill>
            <a:srgbClr val="0E9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5661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E9A86"/>
                </a:solidFill>
                <a:latin typeface="TH SarabunPSK"/>
              </a:defRPr>
            </a:pPr>
            <a:r>
              <a:t>สเต็ป 3</a:t>
            </a:r>
            <a:br/>
            <a:r>
              <a:t>จับบวกกัน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3891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12529"/>
                </a:solidFill>
                <a:latin typeface="TH SarabunPSK"/>
              </a:defRPr>
            </a:pPr>
            <a:r>
              <a:t>นำผลลัพธ์ที่ได้มารวมกัน</a:t>
            </a:r>
            <a:br/>
            <a:r>
              <a:t>คำนวณผลบวก a² + b²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55480" y="2286000"/>
            <a:ext cx="1097280" cy="1097280"/>
          </a:xfrm>
          <a:prstGeom prst="ellipse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5661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08C00"/>
                </a:solidFill>
                <a:latin typeface="TH SarabunPSK"/>
              </a:defRPr>
            </a:pPr>
            <a:r>
              <a:t>สเต็ป 4</a:t>
            </a:r>
            <a:br/>
            <a:r>
              <a:t>ถอดสแควร์รูท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38912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12529"/>
                </a:solidFill>
                <a:latin typeface="TH SarabunPSK"/>
              </a:defRPr>
            </a:pPr>
            <a:r>
              <a:t>ถอดรากที่สองของผลรวม</a:t>
            </a:r>
            <a:br/>
            <a:r>
              <a:t>c = √(a² + b²)</a:t>
            </a:r>
            <a:br/>
            <a:r>
              <a:t>★ อย่าลืมใส่หน่วยกำกับ!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0E9A86"/>
                </a:solidFill>
                <a:latin typeface="TH SarabunPSK"/>
              </a:defRPr>
            </a:pPr>
            <a:r>
              <a:t>ทฤษฎีบทพีทาโกรัส | ม.2</a:t>
            </a:r>
          </a:p>
          <a:p>
            <a:pPr>
              <a:defRPr sz="3200" b="1">
                <a:solidFill>
                  <a:srgbClr val="102A43"/>
                </a:solidFill>
                <a:latin typeface="TH SarabunPSK"/>
              </a:defRPr>
            </a:pPr>
            <a:r>
              <a:t>ชุดตัวเลขยอดนิยม จำง่าย คิดเร็ว (Pythagorean Triples)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828800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9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731520"/>
          </a:xfrm>
          <a:prstGeom prst="roundRect">
            <a:avLst/>
          </a:prstGeom>
          <a:solidFill>
            <a:srgbClr val="0E9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H SarabunPSK"/>
              </a:defRPr>
            </a:pPr>
            <a:r>
              <a:t>ชุดแม่บทที่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E9A86"/>
                </a:solidFill>
                <a:latin typeface="Arial"/>
              </a:defRPr>
            </a:pPr>
            <a:r>
              <a:t>3 – 4 –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529"/>
                </a:solidFill>
                <a:latin typeface="TH SarabunPSK"/>
              </a:defRPr>
            </a:pPr>
            <a:r>
              <a:t>(3² + 4² = 9 + 16 = 25 = 5²)</a:t>
            </a:r>
            <a:br/>
            <a:br/>
            <a:r>
              <a:t>พหุคูณที่พบบ่อยมาก:</a:t>
            </a:r>
            <a:br/>
            <a:r>
              <a:t>• (6, 8, 10)</a:t>
            </a:r>
            <a:br/>
            <a:r>
              <a:t>• (9, 12, 15)</a:t>
            </a:r>
            <a:br/>
            <a:r>
              <a:t>• (12, 16, 20)</a:t>
            </a:r>
            <a:br/>
            <a:r>
              <a:t>• (30, 40, 50)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8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2011680"/>
            <a:ext cx="2560320" cy="731520"/>
          </a:xfrm>
          <a:prstGeom prst="roundRect">
            <a:avLst/>
          </a:prstGeom>
          <a:solidFill>
            <a:srgbClr val="18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H SarabunPSK"/>
              </a:defRPr>
            </a:pPr>
            <a:r>
              <a:t>ชุดแม่บทที่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83464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84B78"/>
                </a:solidFill>
                <a:latin typeface="Arial"/>
              </a:defRPr>
            </a:pPr>
            <a:r>
              <a:t>5 – 12 –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749039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529"/>
                </a:solidFill>
                <a:latin typeface="TH SarabunPSK"/>
              </a:defRPr>
            </a:pPr>
            <a:r>
              <a:t>(5² + 12² = 25 + 144 = 169 = 13²)</a:t>
            </a:r>
            <a:br/>
            <a:br/>
            <a:r>
              <a:t>พหุคูณยอดนิยม:</a:t>
            </a:r>
            <a:br/>
            <a:r>
              <a:t>• (10, 24, 26)</a:t>
            </a:r>
            <a:br/>
            <a:r>
              <a:t>• (15, 36, 39)</a:t>
            </a:r>
            <a:br/>
            <a:r>
              <a:t>• (50, 120, 130)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2011680"/>
            <a:ext cx="2560320" cy="731520"/>
          </a:xfrm>
          <a:prstGeom prst="round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H SarabunPSK"/>
              </a:defRPr>
            </a:pPr>
            <a:r>
              <a:t>ชุดแม่บทที่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83464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08C00"/>
                </a:solidFill>
                <a:latin typeface="Arial"/>
              </a:defRPr>
            </a:pPr>
            <a:r>
              <a:t>7 – 24 – 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749039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529"/>
                </a:solidFill>
                <a:latin typeface="TH SarabunPSK"/>
              </a:defRPr>
            </a:pPr>
            <a:r>
              <a:t>(7² + 24² = 49 + 576 = 625 = 25²)</a:t>
            </a:r>
            <a:br/>
            <a:br/>
            <a:r>
              <a:t>พหุคูณยอดนิยม:</a:t>
            </a:r>
            <a:br/>
            <a:r>
              <a:t>• (14, 48, 50)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2011680"/>
            <a:ext cx="2560320" cy="7315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H SarabunPSK"/>
              </a:defRPr>
            </a:pPr>
            <a:r>
              <a:t>ชุดแม่บทที่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83464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02A43"/>
                </a:solidFill>
                <a:latin typeface="Arial"/>
              </a:defRPr>
            </a:pPr>
            <a:r>
              <a:t>8 – 15 – 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749039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529"/>
                </a:solidFill>
                <a:latin typeface="TH SarabunPSK"/>
              </a:defRPr>
            </a:pPr>
            <a:r>
              <a:t>(8² + 15² = 64 + 225 = 289 = 17²)</a:t>
            </a:r>
            <a:br/>
            <a:br/>
            <a:r>
              <a:t>พหุคูณยอดนิยม:</a:t>
            </a:r>
            <a:br/>
            <a:r>
              <a:t>• (16, 30, 34)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0E9A86"/>
                </a:solidFill>
                <a:latin typeface="TH SarabunPSK"/>
              </a:defRPr>
            </a:pPr>
            <a:r>
              <a:t>ทฤษฎีบทพีทาโกรัส | ม.2</a:t>
            </a:r>
          </a:p>
          <a:p>
            <a:pPr>
              <a:defRPr sz="3200" b="1">
                <a:solidFill>
                  <a:srgbClr val="102A43"/>
                </a:solidFill>
                <a:latin typeface="TH SarabunPSK"/>
              </a:defRPr>
            </a:pPr>
            <a:r>
              <a:t>ตัวอย่างที่ 1: การคำนวณระดับพื้นฐาน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828800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41148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600" b="1">
                <a:solidFill>
                  <a:srgbClr val="102A43"/>
                </a:solidFill>
                <a:latin typeface="TH SarabunPSK"/>
              </a:defRPr>
            </a:pPr>
            <a:r>
              <a:t>โจทย์ตัวอย่าง:</a:t>
            </a:r>
          </a:p>
          <a:p>
            <a:br/>
            <a:pPr>
              <a:defRPr sz="2200">
                <a:solidFill>
                  <a:srgbClr val="212529"/>
                </a:solidFill>
                <a:latin typeface="TH SarabunPSK"/>
              </a:defRPr>
            </a:pPr>
            <a:r>
              <a:t>กำหนดให้รูปสามเหลี่ยมมุมฉากรูปหนึ่ง มีด้านประกอบมุมฉากยาว 6 เซนติเมตร และ 8 เซนติเมตร</a:t>
            </a:r>
            <a:br/>
            <a:br/>
            <a:r>
              <a:t>จงหาความยาวของด้านตรงข้ามมุมฉาก (c)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920240"/>
            <a:ext cx="630936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9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600" b="1">
                <a:solidFill>
                  <a:srgbClr val="0E9A86"/>
                </a:solidFill>
                <a:latin typeface="TH SarabunPSK"/>
              </a:defRPr>
            </a:pPr>
            <a:r>
              <a:t>วิธีทำตาม 4 สเต็ป:</a:t>
            </a:r>
          </a:p>
          <a:p>
            <a:pPr>
              <a:defRPr sz="2200" b="0">
                <a:solidFill>
                  <a:srgbClr val="102A43"/>
                </a:solidFill>
                <a:latin typeface="TH SarabunPSK"/>
              </a:defRPr>
            </a:pPr>
            <a:r>
              <a:t>สเต็ป 1: ระบุด้าน -&gt; a = 6, b = 8</a:t>
            </a:r>
          </a:p>
          <a:p>
            <a:pPr>
              <a:defRPr sz="2200" b="0">
                <a:solidFill>
                  <a:srgbClr val="102A43"/>
                </a:solidFill>
                <a:latin typeface="TH SarabunPSK"/>
              </a:defRPr>
            </a:pPr>
            <a:r>
              <a:t>สเต็ป 2 &amp; 3: แทนค่าลงในสูตร c² = a² + b²</a:t>
            </a:r>
          </a:p>
          <a:p>
            <a:pPr>
              <a:defRPr sz="2200" b="0">
                <a:solidFill>
                  <a:srgbClr val="102A43"/>
                </a:solidFill>
                <a:latin typeface="TH SarabunPSK"/>
              </a:defRPr>
            </a:pPr>
            <a:r>
              <a:t>             c² = 6² + 8² = 36 + 64 = 100</a:t>
            </a:r>
          </a:p>
          <a:p>
            <a:pPr>
              <a:defRPr sz="2200" b="1">
                <a:solidFill>
                  <a:srgbClr val="102A43"/>
                </a:solidFill>
                <a:latin typeface="TH SarabunPSK"/>
              </a:defRPr>
            </a:pPr>
            <a:r>
              <a:t>สเต็ป 4: ถอดรากที่สอง -&gt; c = √100 = 10 เซนติเมตร</a:t>
            </a:r>
          </a:p>
          <a:p>
            <a:pPr>
              <a:defRPr sz="2200" b="1">
                <a:solidFill>
                  <a:srgbClr val="F08C00"/>
                </a:solidFill>
                <a:latin typeface="TH SarabunPSK"/>
              </a:defRPr>
            </a:pPr>
            <a:r>
              <a:t>★ ตอบ: ด้านตรงข้ามมุมฉากยาว 10 เซนติเมตร</a:t>
            </a:r>
          </a:p>
          <a:p>
            <a:br/>
            <a:pPr>
              <a:defRPr sz="2000" i="1">
                <a:solidFill>
                  <a:srgbClr val="6C757D"/>
                </a:solidFill>
                <a:latin typeface="TH SarabunPSK"/>
              </a:defRPr>
            </a:pPr>
            <a:r>
              <a:t>💡 ข้อสังเกต: 6, 8, 10 คือพหุคูณ 2 เท่าของชุด (3, 4, 5) นั่นเอง!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0E9A86"/>
                </a:solidFill>
                <a:latin typeface="TH SarabunPSK"/>
              </a:defRPr>
            </a:pPr>
            <a:r>
              <a:t>ทฤษฎีบทพีทาโกรัส | ม.2</a:t>
            </a:r>
          </a:p>
          <a:p>
            <a:pPr>
              <a:defRPr sz="3200" b="1">
                <a:solidFill>
                  <a:srgbClr val="102A43"/>
                </a:solidFill>
                <a:latin typeface="TH SarabunPSK"/>
              </a:defRPr>
            </a:pPr>
            <a:r>
              <a:t>ตัวอย่างที่ 2: การประยุกต์ใช้ในชีวิตจริง (โจทย์บันไดกู้ภัย)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828800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4572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600" b="1">
                <a:solidFill>
                  <a:srgbClr val="102A43"/>
                </a:solidFill>
                <a:latin typeface="TH SarabunPSK"/>
              </a:defRPr>
            </a:pPr>
            <a:r>
              <a:t>สถานการณ์ปัญหา:</a:t>
            </a:r>
          </a:p>
          <a:p>
            <a:br/>
            <a:pPr>
              <a:defRPr sz="2200">
                <a:solidFill>
                  <a:srgbClr val="212529"/>
                </a:solidFill>
                <a:latin typeface="TH SarabunPSK"/>
              </a:defRPr>
            </a:pPr>
            <a:r>
              <a:t>ช่างทาสีต้องการพาดบันไดกับแนวกำแพงตึก โดยให้ปลายบันไดแตะขอบหน้าต่างชั้นสองซึ่งสูงจากพื้นดิน 12 เมตร และวางโคนบันไดห่างจากกำแพง 5 เมตร</a:t>
            </a:r>
            <a:br/>
            <a:br/>
            <a:r>
              <a:t>ช่างทาสีต้องใช้บันไดยาวอย่างน้อยกี่เมตร?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920240"/>
            <a:ext cx="585216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600" b="1">
                <a:solidFill>
                  <a:srgbClr val="F08C00"/>
                </a:solidFill>
                <a:latin typeface="TH SarabunPSK"/>
              </a:defRPr>
            </a:pPr>
            <a:r>
              <a:t>วิเคราะห์และแสดงวิธีทำ:</a:t>
            </a:r>
          </a:p>
          <a:p>
            <a:pPr>
              <a:defRPr sz="2200" b="0">
                <a:solidFill>
                  <a:srgbClr val="102A43"/>
                </a:solidFill>
                <a:latin typeface="TH SarabunPSK"/>
              </a:defRPr>
            </a:pPr>
            <a:r>
              <a:t>• กำแพงตึกและพื้นดินตั้งฉากกัน (90°)</a:t>
            </a:r>
          </a:p>
          <a:p>
            <a:pPr>
              <a:defRPr sz="2200" b="0">
                <a:solidFill>
                  <a:srgbClr val="102A43"/>
                </a:solidFill>
                <a:latin typeface="TH SarabunPSK"/>
              </a:defRPr>
            </a:pPr>
            <a:r>
              <a:t>• ความสูงกำแพง a = 12 เมตร</a:t>
            </a:r>
          </a:p>
          <a:p>
            <a:pPr>
              <a:defRPr sz="2200" b="0">
                <a:solidFill>
                  <a:srgbClr val="102A43"/>
                </a:solidFill>
                <a:latin typeface="TH SarabunPSK"/>
              </a:defRPr>
            </a:pPr>
            <a:r>
              <a:t>• ระยะโคนบันได b = 5 เมตร</a:t>
            </a:r>
          </a:p>
          <a:p>
            <a:pPr>
              <a:defRPr sz="2200" b="0">
                <a:solidFill>
                  <a:srgbClr val="102A43"/>
                </a:solidFill>
                <a:latin typeface="TH SarabunPSK"/>
              </a:defRPr>
            </a:pPr>
            <a:r>
              <a:t>• ความยาวบันไดคือ ด้านตรงข้ามมุมฉาก (c)</a:t>
            </a:r>
          </a:p>
          <a:p>
            <a:pPr>
              <a:defRPr sz="2200" b="0">
                <a:solidFill>
                  <a:srgbClr val="102A43"/>
                </a:solidFill>
                <a:latin typeface="TH SarabunPSK"/>
              </a:defRPr>
            </a:pPr>
            <a:r>
              <a:t>  c² = 12² + 5² = 144 + 25 = 169</a:t>
            </a:r>
          </a:p>
          <a:p>
            <a:pPr>
              <a:defRPr sz="2200" b="0">
                <a:solidFill>
                  <a:srgbClr val="102A43"/>
                </a:solidFill>
                <a:latin typeface="TH SarabunPSK"/>
              </a:defRPr>
            </a:pPr>
            <a:r>
              <a:t>  c = √169 = 13 เมตร</a:t>
            </a:r>
          </a:p>
          <a:p>
            <a:pPr>
              <a:defRPr sz="2200" b="1">
                <a:solidFill>
                  <a:srgbClr val="0E9A86"/>
                </a:solidFill>
                <a:latin typeface="TH SarabunPSK"/>
              </a:defRPr>
            </a:pPr>
            <a:r>
              <a:t>★ ตอบ: ช่างทาสีต้องใช้บันไดยาวอย่างน้อย 13 เมตร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0E9A86"/>
                </a:solidFill>
                <a:latin typeface="TH SarabunPSK"/>
              </a:defRPr>
            </a:pPr>
            <a:r>
              <a:t>ทฤษฎีบทพีทาโกรัส | ม.2</a:t>
            </a:r>
          </a:p>
          <a:p>
            <a:pPr>
              <a:defRPr sz="3200" b="1">
                <a:solidFill>
                  <a:srgbClr val="102A43"/>
                </a:solidFill>
                <a:latin typeface="TH SarabunPSK"/>
              </a:defRPr>
            </a:pPr>
            <a:r>
              <a:t>จุดที่มักผิดบ่อย &amp; เคลียร์ข้อสงสัยจาก Padlet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828800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400" b="1">
                <a:solidFill>
                  <a:srgbClr val="D93F3F"/>
                </a:solidFill>
                <a:latin typeface="TH SarabunPSK"/>
              </a:defRPr>
            </a:pPr>
            <a:r>
              <a:t>หลุมพรางที่ต้องระวัง! (Common Mistakes)</a:t>
            </a:r>
          </a:p>
          <a:p>
            <a:br/>
            <a:pPr>
              <a:defRPr sz="2000" b="1">
                <a:solidFill>
                  <a:srgbClr val="102A43"/>
                </a:solidFill>
                <a:latin typeface="TH SarabunPSK"/>
              </a:defRPr>
            </a:pPr>
            <a:r>
              <a:t>❌ อย่าลืมยกกำลังสองก่อนบวก!</a:t>
            </a:r>
          </a:p>
          <a:p>
            <a:pPr>
              <a:defRPr sz="1800">
                <a:solidFill>
                  <a:srgbClr val="212529"/>
                </a:solidFill>
                <a:latin typeface="TH SarabunPSK"/>
              </a:defRPr>
            </a:pPr>
            <a:r>
              <a:t>   ห้ามนำ 6 + 8 = 14 แบบนี้ผิดทันที! ต้องยกกำลังสองก่อนเป็น 36 + 64 = 100</a:t>
            </a:r>
          </a:p>
          <a:p>
            <a:br/>
            <a:pPr>
              <a:defRPr sz="2000" b="1">
                <a:solidFill>
                  <a:srgbClr val="102A43"/>
                </a:solidFill>
                <a:latin typeface="TH SarabunPSK"/>
              </a:defRPr>
            </a:pPr>
            <a:r>
              <a:t>❌ อย่าลืมถอดรากที่สองในขั้นสุดท้าย!</a:t>
            </a:r>
          </a:p>
          <a:p>
            <a:pPr>
              <a:defRPr sz="1800">
                <a:solidFill>
                  <a:srgbClr val="212529"/>
                </a:solidFill>
                <a:latin typeface="TH SarabunPSK"/>
              </a:defRPr>
            </a:pPr>
            <a:r>
              <a:t>   เมื่อบวกได้ 100 ห้ามตอบ 100 ทันที ต้องถอดสแควร์รูท c = √100 = 10</a:t>
            </a:r>
          </a:p>
          <a:p>
            <a:br/>
            <a:pPr>
              <a:defRPr sz="2000" b="1">
                <a:solidFill>
                  <a:srgbClr val="102A43"/>
                </a:solidFill>
                <a:latin typeface="TH SarabunPSK"/>
              </a:defRPr>
            </a:pPr>
            <a:r>
              <a:t>❌ สับสนตำแหน่งด้านเมื่อรูปเอียง!</a:t>
            </a:r>
          </a:p>
          <a:p>
            <a:pPr>
              <a:defRPr sz="1800">
                <a:solidFill>
                  <a:srgbClr val="212529"/>
                </a:solidFill>
                <a:latin typeface="TH SarabunPSK"/>
              </a:defRPr>
            </a:pPr>
            <a:r>
              <a:t>   มองหาสัญลักษณ์มุมฉาก 90° เสมอ ด้านตรงข้ามคือ c และต้องยาวที่สุดเสมอ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21208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9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2400" b="1">
                <a:solidFill>
                  <a:srgbClr val="0E9A86"/>
                </a:solidFill>
                <a:latin typeface="TH SarabunPSK"/>
              </a:defRPr>
            </a:pPr>
            <a:r>
              <a:t>เคลียร์คำถามเด็ดจากกระดาน Padlet</a:t>
            </a:r>
          </a:p>
          <a:p>
            <a:br/>
            <a:pPr>
              <a:defRPr sz="2000" b="1">
                <a:solidFill>
                  <a:srgbClr val="102A43"/>
                </a:solidFill>
                <a:latin typeface="TH SarabunPSK"/>
              </a:defRPr>
            </a:pPr>
            <a:r>
              <a:t>💬 คำถาม: 'ถ้าถอดรูทไม่ลงตัวต้องทำยังไงครับ?'</a:t>
            </a:r>
          </a:p>
          <a:p>
            <a:pPr>
              <a:defRPr sz="1800">
                <a:solidFill>
                  <a:srgbClr val="212529"/>
                </a:solidFill>
                <a:latin typeface="TH SarabunPSK"/>
              </a:defRPr>
            </a:pPr>
            <a:r>
              <a:t> ตอบ: ให้เขียนติดในรูปกรณฑ์ได้เลย เช่น c = √13 หรือถ้าโจทย์สั่งให้ประมาณค่าทศนิยม ค่อยใช้การประมาณค่า เช่น √13 ≈ 3.61</a:t>
            </a:r>
          </a:p>
          <a:p>
            <a:br/>
            <a:pPr>
              <a:defRPr sz="2000" b="1">
                <a:solidFill>
                  <a:srgbClr val="102A43"/>
                </a:solidFill>
                <a:latin typeface="TH SarabunPSK"/>
              </a:defRPr>
            </a:pPr>
            <a:r>
              <a:t>💬 คำถาม: 'ทำไมในสูตรเราไม่ตอบค่าติดลบครับ?'</a:t>
            </a:r>
          </a:p>
          <a:p>
            <a:pPr>
              <a:defRPr sz="1800">
                <a:solidFill>
                  <a:srgbClr val="212529"/>
                </a:solidFill>
                <a:latin typeface="TH SarabunPSK"/>
              </a:defRPr>
            </a:pPr>
            <a:r>
              <a:t> ตอบ: ในทางเรขาคณิต ความยาวของด้านหรือระยะทางในโลกจริงต้องเป็นจำนวนบวกเสมอ (c &gt; 0) จึงไม่ใช้ค่าลบ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TH SarabunPSK"/>
              </a:defRPr>
            </a:pPr>
            <a:r>
              <a:t>พร้อมแล้ว! เข้าสู่ช่วงปฏิบัติการในห้องเรียน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4754880" cy="38404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E9A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600" b="1">
                <a:solidFill>
                  <a:srgbClr val="0E9A86"/>
                </a:solidFill>
                <a:latin typeface="TH SarabunPSK"/>
              </a:defRPr>
            </a:pPr>
            <a:r>
              <a:t>กิจกรรมที่ 1: Quick Quiz</a:t>
            </a:r>
          </a:p>
          <a:p>
            <a:br/>
            <a:pPr>
              <a:defRPr sz="2000">
                <a:solidFill>
                  <a:srgbClr val="212529"/>
                </a:solidFill>
                <a:latin typeface="TH SarabunPSK"/>
              </a:defRPr>
            </a:pPr>
            <a:r>
              <a:t>📱 ระบบ Quizizz (10 ข้อ 5 นาที)</a:t>
            </a:r>
            <a:br/>
            <a:r>
              <a:t>• สแกน QR Code เข้าห้องสอบ</a:t>
            </a:r>
            <a:br/>
            <a:r>
              <a:t>• ทดสอบความเข้าใจรายบุคคล</a:t>
            </a:r>
            <a:br/>
            <a:r>
              <a:t>• ประเมินผลทันที มี Leaderboard ให้ลุ้นคะแนนพิเศษ!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011680"/>
            <a:ext cx="4754880" cy="38404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600" b="1">
                <a:solidFill>
                  <a:srgbClr val="F08C00"/>
                </a:solidFill>
                <a:latin typeface="TH SarabunPSK"/>
              </a:defRPr>
            </a:pPr>
            <a:r>
              <a:t>กิจกรรมที่ 2: Pythagoras Mission</a:t>
            </a:r>
          </a:p>
          <a:p>
            <a:br/>
            <a:pPr>
              <a:defRPr sz="2000">
                <a:solidFill>
                  <a:srgbClr val="212529"/>
                </a:solidFill>
                <a:latin typeface="TH SarabunPSK"/>
              </a:defRPr>
            </a:pPr>
            <a:r>
              <a:t>🤝 รวมกลุ่ม 4 - 5 คน (เวลา 25 นาที)</a:t>
            </a:r>
            <a:br/>
            <a:r>
              <a:t>• รับแฟ้มภารกิจกู้ภัยตึกสูง &amp; สายเคเบิลเสา 5G</a:t>
            </a:r>
            <a:br/>
            <a:r>
              <a:t>• ช่วยกันคำนวณและวาดแบบจำลอง</a:t>
            </a:r>
            <a:br/>
            <a:r>
              <a:t>• เตรียมตัวแทนสุ่มวงล้อออกมานำเสนอหน้าชั้นเรียน!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